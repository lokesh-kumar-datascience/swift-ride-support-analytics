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C5B6C-7BA0-421C-AFFB-DE5D1B3FB0F7}" v="12" dt="2025-12-14T07:56:19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0D1E1-6BB9-4C8D-9BB7-566A000BF7F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EA1F7-5465-412D-AC7F-1D5EB77519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0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F4DC2-36A9-0DDE-2859-1392D5E3C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C078A-6C50-3E12-6EB0-837764F9E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8A88D-E8D3-BCE7-C32B-9D53F1C9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2CBB-5A53-5F7C-5D12-9AB8C90F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8638E-4CA1-8CCE-10D1-F8C69B01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556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38D3-B486-A288-72CA-CE1BCC4C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7E510-59B2-6BCD-DE69-60274BA09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B15C-F4AD-E9C9-7D5B-5982601E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F2D96-7F38-E736-891C-3C25D895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5B86E-5554-280C-194C-B9DB3BFA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67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1208-009D-04B1-2BE6-36520A5C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B4A75-18BA-F04C-600C-8D4651BC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D864-E4B1-6BB0-98B2-A877E74E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27BDF-C247-C2B5-D812-AB785CAE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88A03-99A0-26C8-F2E5-F66C3D12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6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E443-843A-83DC-70D2-D9440C6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6C363-1FB2-87DF-B315-D02CE39DB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11A20-8E24-96D5-A4CA-D2334F2F3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69CDF-CDB4-0EEF-CFAB-7CF03792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50B38-702C-95B3-B2EA-E7DC375A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CE161-B3E8-6E27-337C-D9D67697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0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F095-8754-3B87-3A06-6DDFD317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CD6A2-6F34-6206-A0A1-22BF1776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D10B3-48C4-64A4-E2BA-5C2A8E33A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E6AA2-F8A7-1912-1171-D4ED2C510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0706AA-8E7F-7915-62A7-E37874024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96EDF-50BF-2FC5-D408-52BA4DB3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C7159F-0FC8-C806-E265-976AE39D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1A250-7DFC-A44E-C0BE-AA004E7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27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9A74-541D-83D3-630C-5526E5DF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0C257-235C-EF31-33F2-59672075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171A4-4059-3EC5-FE94-619F641C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060BF-2A7E-124F-CD8F-D429DB6C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96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85C38-710E-15DB-DF23-078A88C4D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18CA8-B974-5826-5E91-52B69484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197C3-DB15-A747-5710-E3C9412C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6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ED4E-2BE1-C5F0-D9E6-4D7AC9C4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DBD2E-F645-2BD2-A29A-825310DA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106DD-F7B3-C817-BD6E-71E122CD6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42609-0F68-1A0D-15C0-C791CE8A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3FD84-ECB2-C47C-5EC4-FAD0D366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DE889-D74C-83CC-7F51-9C0DA22D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39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AE81C-238F-04D5-C7E0-C12963A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68D0-DC41-E04B-F1F1-1D329DC94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CC200-ADD4-4388-1DE9-58085D7A1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A83E0-0ED5-5D1F-FEB4-E0780D94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F8FD9-04D3-F5BD-CB6C-9BD17CE8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E0FE5-25BD-4358-022A-55466FF9C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5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7B89-72B5-5622-6098-09FEC1F1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32F81-2F50-F577-D5D5-103B43352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A033-3EAB-86FB-E0DA-BEE8A9C1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26693-DC68-ABED-583D-81641A34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C5286-ABAA-5DFD-24EF-632D22D4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1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54D5E-07DB-BAE2-B352-C9945CA66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E00B1-8DBE-5B67-FD9F-16BFD202A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C4B3-AFAD-31A2-B67C-6D8B765D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0FD71-22AD-74E2-B4DD-9CB48111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D964-1BE0-4EFC-2E21-83AE5B8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36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14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9F3A72-2A6F-5270-046D-13478A9B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21027-CF4C-C9F4-9B09-0A3C3E04E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E919D-FBFA-290B-1215-2CF37D662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47316-4B9D-4FA2-B999-BD4ECC7C7BED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E22E0-8CFE-F54C-9DE9-01A1D981C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85754-10AB-B4B2-9B89-F09E19626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E04A8-6509-4541-9121-41B0EB8E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8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07160"/>
            <a:ext cx="1056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200"/>
              </a:lnSpc>
            </a:pPr>
            <a:r>
              <a:rPr lang="en-US" sz="60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SwiftRide Support Excellence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104065" y="3439160"/>
            <a:ext cx="79837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Operations - Strategic Analysis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30715" y="4475480"/>
            <a:ext cx="53305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Performance Review | Data-Driven Insights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0730" y="5201920"/>
            <a:ext cx="1290543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60"/>
              </a:lnSpc>
            </a:pPr>
            <a:r>
              <a:rPr lang="en-US" sz="1400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1" y="1767840"/>
            <a:ext cx="3318828" cy="2306320"/>
          </a:xfrm>
          <a:prstGeom prst="roundRect">
            <a:avLst>
              <a:gd name="adj" fmla="val 21145"/>
            </a:avLst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36428" y="1767840"/>
            <a:ext cx="3318987" cy="2306320"/>
          </a:xfrm>
          <a:prstGeom prst="roundRect">
            <a:avLst>
              <a:gd name="adj" fmla="val 21145"/>
            </a:avLst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60214" y="1767840"/>
            <a:ext cx="3318828" cy="2306320"/>
          </a:xfrm>
          <a:prstGeom prst="roundRect">
            <a:avLst>
              <a:gd name="adj" fmla="val 21145"/>
            </a:avLst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80560"/>
            <a:ext cx="10566400" cy="1564640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812800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Overview: Key Findings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0509" y="2072640"/>
            <a:ext cx="276341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136,765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0509" y="2885441"/>
            <a:ext cx="2763412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Tickets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090509" y="3242945"/>
            <a:ext cx="276341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04"/>
              </a:lnSpc>
            </a:pPr>
            <a:r>
              <a:rPr lang="en-US" sz="136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concern types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4714134" y="2072640"/>
            <a:ext cx="276357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26.66%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14134" y="2885441"/>
            <a:ext cx="2763575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Rate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714134" y="3242945"/>
            <a:ext cx="2763575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04"/>
              </a:lnSpc>
            </a:pPr>
            <a:r>
              <a:rPr lang="en-US" sz="136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36,465 reopened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8337922" y="2072640"/>
            <a:ext cx="276341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37922" y="2885441"/>
            <a:ext cx="2763412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CSAT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8337922" y="3242945"/>
            <a:ext cx="2763412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04"/>
              </a:lnSpc>
            </a:pPr>
            <a:r>
              <a:rPr lang="en-US" sz="136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1168400" y="4785360"/>
            <a:ext cx="1010412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INSIGHT: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8400" y="5171440"/>
            <a:ext cx="9906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 reopen rate indicates systemic quality gaps. Six high-risk + low-CSAT combinations flagged. Safety concerns (Accidents, Rash Driving) show dangerous CSAT misalignment.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592" y="1259210"/>
            <a:ext cx="5080000" cy="2072481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95568" y="1220624"/>
            <a:ext cx="5080000" cy="2102485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7136" y="3806032"/>
            <a:ext cx="10566400" cy="2834005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95680" y="275108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Integrity: Flagging Gaps &amp; Using Proxies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1323503"/>
            <a:ext cx="4300728" cy="31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4"/>
              </a:lnSpc>
            </a:pPr>
            <a:r>
              <a:rPr lang="en-US" sz="176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MISSING DATA: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270000" y="1839597"/>
            <a:ext cx="430072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Bookings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2199324"/>
            <a:ext cx="4300728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 in dataset. Core revenue metric.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6773672" y="1323503"/>
            <a:ext cx="4300728" cy="31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4"/>
              </a:lnSpc>
            </a:pPr>
            <a:r>
              <a:rPr lang="en-US" sz="176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SOLUTION: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6773672" y="1839597"/>
            <a:ext cx="4300728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Rate per Trip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3672" y="2195038"/>
            <a:ext cx="4216400" cy="5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proxy with proven causation to bookings.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117600" y="3879535"/>
            <a:ext cx="1015593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Rate Calculation 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3536" y="4571847"/>
            <a:ext cx="9956800" cy="173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Initial Contacts (1 per trip) + Reopened Contacts (26.66% of tickets)</a:t>
            </a:r>
            <a:endParaRPr lang="en-US" sz="1520" dirty="0"/>
          </a:p>
          <a:p>
            <a:pPr>
              <a:lnSpc>
                <a:spcPts val="2736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+ 0.2666 = </a:t>
            </a:r>
            <a:r>
              <a:rPr lang="en-US" sz="152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1.267 contacts per trip</a:t>
            </a:r>
            <a:endParaRPr lang="en-US" sz="1520" dirty="0"/>
          </a:p>
          <a:p>
            <a:pPr>
              <a:lnSpc>
                <a:spcPts val="2736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(20% reopen reduction):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+ 0.2133 = </a:t>
            </a:r>
            <a:r>
              <a:rPr lang="en-US" sz="15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1.213 contacts per trip</a:t>
            </a:r>
            <a:endParaRPr lang="en-US" sz="1520" dirty="0"/>
          </a:p>
          <a:p>
            <a:pPr>
              <a:lnSpc>
                <a:spcPts val="2736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contact rate → More support issues → Lower satisfaction → Reduced repeat trips → Lower Gross Bookings</a:t>
            </a:r>
            <a:endParaRPr lang="en-US" sz="15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5040" y="520065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 Volume &amp; Risk Profile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5040" y="5996237"/>
            <a:ext cx="10777728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INSIGHT: Rash Driving shows 40.2% reopen rate + 72.5 CSAT = Highest priority safety concern.</a:t>
            </a:r>
            <a:endParaRPr lang="en-US" sz="144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F2FEBC-023D-9B69-DD47-74ADEB15F588}"/>
              </a:ext>
            </a:extLst>
          </p:cNvPr>
          <p:cNvGraphicFramePr>
            <a:graphicFrameLocks noGrp="1"/>
          </p:cNvGraphicFramePr>
          <p:nvPr/>
        </p:nvGraphicFramePr>
        <p:xfrm>
          <a:off x="955040" y="1239522"/>
          <a:ext cx="9641840" cy="4585898"/>
        </p:xfrm>
        <a:graphic>
          <a:graphicData uri="http://schemas.openxmlformats.org/drawingml/2006/table">
            <a:tbl>
              <a:tblPr/>
              <a:tblGrid>
                <a:gridCol w="1928368">
                  <a:extLst>
                    <a:ext uri="{9D8B030D-6E8A-4147-A177-3AD203B41FA5}">
                      <a16:colId xmlns:a16="http://schemas.microsoft.com/office/drawing/2014/main" val="3603096342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661382283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1845147324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117456576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3410909024"/>
                    </a:ext>
                  </a:extLst>
                </a:gridCol>
              </a:tblGrid>
              <a:tr h="5261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1FBAD6"/>
                          </a:solidFill>
                          <a:effectLst/>
                        </a:rPr>
                        <a:t>Concern Type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1FBAD6"/>
                          </a:solidFill>
                          <a:effectLst/>
                        </a:rPr>
                        <a:t>Volume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1FBAD6"/>
                          </a:solidFill>
                          <a:effectLst/>
                        </a:rPr>
                        <a:t>Risk Level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1FBAD6"/>
                          </a:solidFill>
                          <a:effectLst/>
                        </a:rPr>
                        <a:t>Avg CSAT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1FBAD6"/>
                          </a:solidFill>
                          <a:effectLst/>
                        </a:rPr>
                        <a:t>Reopen 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267455"/>
                  </a:ext>
                </a:extLst>
              </a:tr>
              <a:tr h="5711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Accident on trip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24,386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EF4444"/>
                          </a:solidFill>
                          <a:effectLst/>
                        </a:rPr>
                        <a:t>VERY HIGH</a:t>
                      </a:r>
                      <a:endParaRPr lang="en-IN" sz="15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76.3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FF6B35"/>
                          </a:solidFill>
                          <a:effectLst/>
                        </a:rPr>
                        <a:t>21.0%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1223"/>
                  </a:ext>
                </a:extLst>
              </a:tr>
              <a:tr h="7516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My driver drove rashly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20,334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EF4444"/>
                          </a:solidFill>
                          <a:effectLst/>
                        </a:rPr>
                        <a:t>HIGH</a:t>
                      </a:r>
                      <a:endParaRPr lang="en-IN" sz="15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solidFill>
                            <a:srgbClr val="E0E0E0"/>
                          </a:solidFill>
                          <a:effectLst/>
                        </a:rPr>
                        <a:t>72.5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F4444"/>
                          </a:solidFill>
                          <a:effectLst/>
                        </a:rPr>
                        <a:t>40.2%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317756"/>
                  </a:ext>
                </a:extLst>
              </a:tr>
              <a:tr h="7516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Vehicle broke down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23,447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6B35"/>
                          </a:solidFill>
                          <a:effectLst/>
                        </a:rPr>
                        <a:t>HIGH</a:t>
                      </a:r>
                      <a:endParaRPr lang="en-IN" sz="1500">
                        <a:solidFill>
                          <a:srgbClr val="FF6B35"/>
                        </a:solidFill>
                        <a:effectLst/>
                      </a:endParaRP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79.2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FF6B35"/>
                          </a:solidFill>
                          <a:effectLst/>
                        </a:rPr>
                        <a:t>22.4%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425305"/>
                  </a:ext>
                </a:extLst>
              </a:tr>
              <a:tr h="5711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Lost Item / Theft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22,533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MEDIUM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78.0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FF6B35"/>
                          </a:solidFill>
                          <a:effectLst/>
                        </a:rPr>
                        <a:t>22.9%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537406"/>
                  </a:ext>
                </a:extLst>
              </a:tr>
              <a:tr h="8156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Charged cancellation fee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23,510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LOW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75.7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FF6B35"/>
                          </a:solidFill>
                          <a:effectLst/>
                        </a:rPr>
                        <a:t>22.4%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62955"/>
                  </a:ext>
                </a:extLst>
              </a:tr>
              <a:tr h="5986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Didn't get trip invoice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FBAD6"/>
                          </a:solidFill>
                          <a:effectLst/>
                        </a:rPr>
                        <a:t>22,555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E0E0E0"/>
                          </a:solidFill>
                          <a:effectLst/>
                        </a:rPr>
                        <a:t>LOW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>
                          <a:solidFill>
                            <a:srgbClr val="10B981"/>
                          </a:solidFill>
                          <a:effectLst/>
                        </a:rPr>
                        <a:t>85.5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solidFill>
                            <a:srgbClr val="FF6B35"/>
                          </a:solidFill>
                          <a:effectLst/>
                        </a:rPr>
                        <a:t>33.1%</a:t>
                      </a:r>
                    </a:p>
                  </a:txBody>
                  <a:tcPr marL="74996" marR="74996" marT="37497" marB="3749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557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736" y="772161"/>
            <a:ext cx="10566400" cy="2222977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1736" y="3199002"/>
            <a:ext cx="10566400" cy="1998581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1736" y="5354400"/>
            <a:ext cx="10566400" cy="1280081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1736" y="173745"/>
            <a:ext cx="10566400" cy="485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Issues: High Risk + Low CSAT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852037"/>
            <a:ext cx="10104120" cy="31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4"/>
              </a:lnSpc>
            </a:pPr>
            <a:r>
              <a:rPr lang="en-US" sz="176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ISSUE #1: RASH DRIVING HANDLING CRISIS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706120" y="1368797"/>
            <a:ext cx="9499600" cy="184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CSAT: 72.5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(Critical - 12.5 points below industry standard)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 Rate: 40.2%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(Highest across all concerns - 2x average)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20,334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tickets - 8,174 reopened (customer had to contact twice)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Safety concerns undersatisfied = brand &amp; regulatory risk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12800" y="3278877"/>
            <a:ext cx="10104120" cy="31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4"/>
              </a:lnSpc>
            </a:pPr>
            <a:r>
              <a:rPr lang="en-US" sz="176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ISSUE #2: ACCIDENT QUALITY INCONSISTENCY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706120" y="3765609"/>
            <a:ext cx="9499600" cy="1846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CSAT: 76.3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(Below target, but highly volatile across weeks: 66-94)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24,386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tickets - Highest volume concern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Variance: 10-59 mins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(5.9x variance - no standardized process)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Inconsistent handling creates variable satisfaction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812800" y="5354399"/>
            <a:ext cx="10104120" cy="312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4"/>
              </a:lnSpc>
            </a:pPr>
            <a:r>
              <a:rPr lang="en-US" sz="176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ROOT CAUSE: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1168400" y="5780572"/>
            <a:ext cx="9906000" cy="54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8"/>
              </a:lnSpc>
            </a:pP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safety concerns show </a:t>
            </a: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handling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(wide AHT variance, low quality consistency), indicating </a:t>
            </a: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standardized safety protocols and inadequate specialized training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464" y="999069"/>
            <a:ext cx="10566400" cy="1472088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8464" y="2771550"/>
            <a:ext cx="10566400" cy="1759012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8464" y="4811777"/>
            <a:ext cx="10566400" cy="1820487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5424" y="357660"/>
            <a:ext cx="10952480" cy="53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Gaps: Reopened Tickets Cost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8464" y="1038959"/>
            <a:ext cx="1015593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per Ticket Breakdown: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600" y="1397626"/>
            <a:ext cx="9956800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(Average Cost/Hour × Average Handling Time in Mins) ÷ 60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(₹947.22/hr × 30.83 mins) ÷ 60 = </a:t>
            </a:r>
            <a:r>
              <a:rPr lang="en-US" sz="152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₹486.77 per initial ticket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Reopened Ticket Cost: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₹486.77 × 2 = </a:t>
            </a:r>
            <a:r>
              <a:rPr lang="en-US" sz="152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₹973.53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(2x work assumption - review + new investigation + resolution)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18464" y="2934219"/>
            <a:ext cx="1015593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Total Reopen Cost Impact (6 Weeks):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3381369"/>
            <a:ext cx="9956800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36,465 reopened tickets × ₹973.53 = </a:t>
            </a:r>
            <a:r>
              <a:rPr lang="en-US" sz="152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₹35.5 Crores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Average: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₹5.92 Crores wasted on poor-quality initial resolution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reopened ticket is a failure of first-contact resolution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812800" y="4904187"/>
            <a:ext cx="1015593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Opportunity (20% Reopen Reduction):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600" y="5440680"/>
            <a:ext cx="9956800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Reopens Avoided: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7,293 tickets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Savings: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2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₹7.1 Crores</a:t>
            </a:r>
            <a:endParaRPr lang="en-US" sz="1520" dirty="0"/>
          </a:p>
          <a:p>
            <a:pPr>
              <a:lnSpc>
                <a:spcPts val="2584"/>
              </a:lnSpc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Annualized: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₹61.6 Crores potential annual savings</a:t>
            </a:r>
            <a:endParaRPr lang="en-US" sz="15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3761"/>
            <a:ext cx="511651" cy="4216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162560" tIns="162560" rIns="162560" bIns="162560" rtlCol="0" anchor="t">
            <a:normAutofit fontScale="55000" lnSpcReduction="20000"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812415"/>
            <a:ext cx="511651" cy="42164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162560" tIns="162560" rIns="162560" bIns="162560" rtlCol="0" anchor="t">
            <a:normAutofit fontScale="55000" lnSpcReduction="20000"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3644264"/>
            <a:ext cx="511651" cy="42164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162560" tIns="162560" rIns="162560" bIns="162560" rtlCol="0" anchor="t">
            <a:normAutofit fontScale="55000" lnSpcReduction="20000"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4476115"/>
            <a:ext cx="511651" cy="42164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162560" tIns="162560" rIns="162560" bIns="162560" rtlCol="0" anchor="t">
            <a:normAutofit fontScale="55000" lnSpcReduction="20000"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307964"/>
            <a:ext cx="511651" cy="421640"/>
          </a:xfrm>
          <a:prstGeom prst="rect">
            <a:avLst/>
          </a:prstGeom>
          <a:solidFill>
            <a:srgbClr val="1FBAD6"/>
          </a:solidFill>
          <a:ln/>
        </p:spPr>
        <p:txBody>
          <a:bodyPr wrap="square" lIns="162560" tIns="162560" rIns="162560" bIns="162560" rtlCol="0" anchor="t">
            <a:normAutofit fontScale="55000" lnSpcReduction="20000"/>
          </a:bodyPr>
          <a:lstStyle/>
          <a:p>
            <a:r>
              <a:rPr lang="en-US" sz="1200" b="1" dirty="0">
                <a:solidFill>
                  <a:srgbClr val="090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812800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Strategic Opportunities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27653" y="1807876"/>
            <a:ext cx="100485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Safety Concern Resolution Framework</a:t>
            </a:r>
            <a:endParaRPr lang="en-US" sz="1456" dirty="0"/>
          </a:p>
        </p:txBody>
      </p:sp>
      <p:sp>
        <p:nvSpPr>
          <p:cNvPr id="9" name="Text 7"/>
          <p:cNvSpPr/>
          <p:nvPr/>
        </p:nvSpPr>
        <p:spPr>
          <a:xfrm>
            <a:off x="1527652" y="2162779"/>
            <a:ext cx="10251781" cy="517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handling protocols for Rash Driving &amp; Accident tickets. </a:t>
            </a:r>
            <a:r>
              <a:rPr lang="en-US" sz="1456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72.5 → 85+ CSAT, reduce 40.2% reopen → 20%</a:t>
            </a:r>
            <a:endParaRPr lang="en-US" sz="1456" dirty="0"/>
          </a:p>
        </p:txBody>
      </p:sp>
      <p:sp>
        <p:nvSpPr>
          <p:cNvPr id="10" name="Text 8"/>
          <p:cNvSpPr/>
          <p:nvPr/>
        </p:nvSpPr>
        <p:spPr>
          <a:xfrm>
            <a:off x="1527653" y="2812415"/>
            <a:ext cx="91939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First-Contact Resolution (FCR) Program</a:t>
            </a:r>
            <a:endParaRPr lang="en-US" sz="1456" dirty="0"/>
          </a:p>
        </p:txBody>
      </p:sp>
      <p:sp>
        <p:nvSpPr>
          <p:cNvPr id="11" name="Text 9"/>
          <p:cNvSpPr/>
          <p:nvPr/>
        </p:nvSpPr>
        <p:spPr>
          <a:xfrm>
            <a:off x="1527653" y="3126740"/>
            <a:ext cx="91939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quality pre-closure checklist. </a:t>
            </a:r>
            <a:r>
              <a:rPr lang="en-US" sz="1456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26.7% reopen → 12% = ₹7.1 Cr savings + CSAT improvement</a:t>
            </a:r>
            <a:endParaRPr lang="en-US" sz="1456" dirty="0"/>
          </a:p>
        </p:txBody>
      </p:sp>
      <p:sp>
        <p:nvSpPr>
          <p:cNvPr id="12" name="Text 10"/>
          <p:cNvSpPr/>
          <p:nvPr/>
        </p:nvSpPr>
        <p:spPr>
          <a:xfrm>
            <a:off x="1527653" y="3644264"/>
            <a:ext cx="79782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Invoice Automation &amp; Self-Service</a:t>
            </a:r>
            <a:endParaRPr lang="en-US" sz="1456" dirty="0"/>
          </a:p>
        </p:txBody>
      </p:sp>
      <p:sp>
        <p:nvSpPr>
          <p:cNvPr id="13" name="Text 11"/>
          <p:cNvSpPr/>
          <p:nvPr/>
        </p:nvSpPr>
        <p:spPr>
          <a:xfrm>
            <a:off x="1527653" y="3958590"/>
            <a:ext cx="79782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trip invoices within 24hrs. </a:t>
            </a:r>
            <a:r>
              <a:rPr lang="en-US" sz="1456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22,555 invoice tickets (4% volume reduction)</a:t>
            </a:r>
            <a:endParaRPr lang="en-US" sz="1456" dirty="0"/>
          </a:p>
        </p:txBody>
      </p:sp>
      <p:sp>
        <p:nvSpPr>
          <p:cNvPr id="14" name="Text 12"/>
          <p:cNvSpPr/>
          <p:nvPr/>
        </p:nvSpPr>
        <p:spPr>
          <a:xfrm>
            <a:off x="1527653" y="4476115"/>
            <a:ext cx="7680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Real-Time Quality Dashboards</a:t>
            </a:r>
            <a:endParaRPr lang="en-US" sz="1456" dirty="0"/>
          </a:p>
        </p:txBody>
      </p:sp>
      <p:sp>
        <p:nvSpPr>
          <p:cNvPr id="15" name="Text 13"/>
          <p:cNvSpPr/>
          <p:nvPr/>
        </p:nvSpPr>
        <p:spPr>
          <a:xfrm>
            <a:off x="1527653" y="4790440"/>
            <a:ext cx="7680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AHT, CSAT, reopen rate in real-time by concern type. Early detection of quality slips.</a:t>
            </a:r>
            <a:endParaRPr lang="en-US" sz="1456" dirty="0"/>
          </a:p>
        </p:txBody>
      </p:sp>
      <p:sp>
        <p:nvSpPr>
          <p:cNvPr id="16" name="Text 14"/>
          <p:cNvSpPr/>
          <p:nvPr/>
        </p:nvSpPr>
        <p:spPr>
          <a:xfrm>
            <a:off x="1527653" y="5307964"/>
            <a:ext cx="61856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Lost Item Escalation Protocol</a:t>
            </a:r>
            <a:endParaRPr lang="en-US" sz="1456" dirty="0"/>
          </a:p>
        </p:txBody>
      </p:sp>
      <p:sp>
        <p:nvSpPr>
          <p:cNvPr id="17" name="Text 15"/>
          <p:cNvSpPr/>
          <p:nvPr/>
        </p:nvSpPr>
        <p:spPr>
          <a:xfrm>
            <a:off x="1527653" y="5622290"/>
            <a:ext cx="61856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75"/>
              </a:lnSpc>
            </a:pPr>
            <a:r>
              <a:rPr lang="en-US" sz="1456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2-tier escalation for 5,166 reopens. Reduce follow-ups by 15%.</a:t>
            </a:r>
            <a:endParaRPr lang="en-US" sz="145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7728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High-Impact Initiatives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5357945"/>
            <a:ext cx="10566400" cy="51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16"/>
              </a:lnSpc>
            </a:pP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144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Analysis Needed:</a:t>
            </a:r>
            <a:r>
              <a:rPr lang="en-US" sz="144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Root cause deep-dive on rash driving reopen (40%+), AHT vs complexity correlation, contact rate trend vs booking impact</a:t>
            </a:r>
            <a:endParaRPr lang="en-US" sz="144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C32F0F-6B9F-1EF1-72AB-969183DFD53E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1473065"/>
          <a:ext cx="9176511" cy="3559771"/>
        </p:xfrm>
        <a:graphic>
          <a:graphicData uri="http://schemas.openxmlformats.org/drawingml/2006/table">
            <a:tbl>
              <a:tblPr/>
              <a:tblGrid>
                <a:gridCol w="3058837">
                  <a:extLst>
                    <a:ext uri="{9D8B030D-6E8A-4147-A177-3AD203B41FA5}">
                      <a16:colId xmlns:a16="http://schemas.microsoft.com/office/drawing/2014/main" val="481752117"/>
                    </a:ext>
                  </a:extLst>
                </a:gridCol>
                <a:gridCol w="3058837">
                  <a:extLst>
                    <a:ext uri="{9D8B030D-6E8A-4147-A177-3AD203B41FA5}">
                      <a16:colId xmlns:a16="http://schemas.microsoft.com/office/drawing/2014/main" val="4087823845"/>
                    </a:ext>
                  </a:extLst>
                </a:gridCol>
                <a:gridCol w="3058837">
                  <a:extLst>
                    <a:ext uri="{9D8B030D-6E8A-4147-A177-3AD203B41FA5}">
                      <a16:colId xmlns:a16="http://schemas.microsoft.com/office/drawing/2014/main" val="538123196"/>
                    </a:ext>
                  </a:extLst>
                </a:gridCol>
              </a:tblGrid>
              <a:tr h="2432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solidFill>
                            <a:srgbClr val="1FBAD6"/>
                          </a:solidFill>
                          <a:effectLst/>
                        </a:rPr>
                        <a:t>Initiative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solidFill>
                            <a:srgbClr val="1FBAD6"/>
                          </a:solidFill>
                          <a:effectLst/>
                        </a:rPr>
                        <a:t>Key Impact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solidFill>
                            <a:srgbClr val="1FBAD6"/>
                          </a:solidFill>
                          <a:effectLst/>
                        </a:rPr>
                        <a:t>Effort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447215"/>
                  </a:ext>
                </a:extLst>
              </a:tr>
              <a:tr h="607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effectLst/>
                        </a:rPr>
                        <a:t>1. AHT Optimization</a:t>
                      </a:r>
                      <a:r>
                        <a:rPr lang="en-US" sz="1200" dirty="0">
                          <a:solidFill>
                            <a:srgbClr val="E0E0E0"/>
                          </a:solidFill>
                          <a:effectLst/>
                        </a:rPr>
                        <a:t> - Process standardization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10B981"/>
                          </a:solidFill>
                          <a:effectLst/>
                        </a:rPr>
                        <a:t>-25% AHT, +20% productivity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E0E0E0"/>
                          </a:solidFill>
                          <a:effectLst/>
                        </a:rPr>
                        <a:t>Medium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785391"/>
                  </a:ext>
                </a:extLst>
              </a:tr>
              <a:tr h="607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effectLst/>
                        </a:rPr>
                        <a:t>2. Safety Agent Training</a:t>
                      </a:r>
                      <a:r>
                        <a:rPr lang="en-US" sz="1200" dirty="0">
                          <a:solidFill>
                            <a:srgbClr val="E0E0E0"/>
                          </a:solidFill>
                          <a:effectLst/>
                        </a:rPr>
                        <a:t> - Empathy &amp; complex issue handling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10B981"/>
                          </a:solidFill>
                          <a:effectLst/>
                        </a:rPr>
                        <a:t>+8 CSAT, -10% reopen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E0E0E0"/>
                          </a:solidFill>
                          <a:effectLst/>
                        </a:rPr>
                        <a:t>Medium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51878"/>
                  </a:ext>
                </a:extLst>
              </a:tr>
              <a:tr h="7474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effectLst/>
                        </a:rPr>
                        <a:t>3. Predictive Escalation</a:t>
                      </a:r>
                      <a:r>
                        <a:rPr lang="en-US" sz="1200" dirty="0">
                          <a:solidFill>
                            <a:srgbClr val="E0E0E0"/>
                          </a:solidFill>
                          <a:effectLst/>
                        </a:rPr>
                        <a:t> - AI-based automatic complex case routing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10B981"/>
                          </a:solidFill>
                          <a:effectLst/>
                        </a:rPr>
                        <a:t>+12 CSAT, -35% resolution time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E0E0E0"/>
                          </a:solidFill>
                          <a:effectLst/>
                        </a:rPr>
                        <a:t>High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906444"/>
                  </a:ext>
                </a:extLst>
              </a:tr>
              <a:tr h="7474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effectLst/>
                        </a:rPr>
                        <a:t>4. Weekly Trend Analytics</a:t>
                      </a:r>
                      <a:r>
                        <a:rPr lang="en-US" sz="1200" dirty="0">
                          <a:solidFill>
                            <a:srgbClr val="E0E0E0"/>
                          </a:solidFill>
                          <a:effectLst/>
                        </a:rPr>
                        <a:t> - Volume/CSAT trends by concern &amp; shift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10B981"/>
                          </a:solidFill>
                          <a:effectLst/>
                        </a:rPr>
                        <a:t>Early problem detection, staffing optimization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>
                          <a:solidFill>
                            <a:srgbClr val="E0E0E0"/>
                          </a:solidFill>
                          <a:effectLst/>
                        </a:rPr>
                        <a:t>Low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85371"/>
                  </a:ext>
                </a:extLst>
              </a:tr>
              <a:tr h="607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solidFill>
                            <a:srgbClr val="E0E0E0"/>
                          </a:solidFill>
                          <a:effectLst/>
                        </a:rPr>
                        <a:t>5. Win-Back Campaign</a:t>
                      </a:r>
                      <a:r>
                        <a:rPr lang="en-US" sz="1200" dirty="0">
                          <a:solidFill>
                            <a:srgbClr val="E0E0E0"/>
                          </a:solidFill>
                          <a:effectLst/>
                        </a:rPr>
                        <a:t> - Outreach to low-CSAT customers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10B981"/>
                          </a:solidFill>
                          <a:effectLst/>
                        </a:rPr>
                        <a:t>Recover 8-10% at-risk repeat bookings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solidFill>
                            <a:srgbClr val="E0E0E0"/>
                          </a:solidFill>
                          <a:effectLst/>
                        </a:rPr>
                        <a:t>Medium</a:t>
                      </a:r>
                    </a:p>
                  </a:txBody>
                  <a:tcPr marL="60413" marR="60413" marT="30207" marB="3020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921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6243"/>
            <a:ext cx="3386613" cy="3995579"/>
          </a:xfrm>
          <a:prstGeom prst="rect">
            <a:avLst/>
          </a:prstGeom>
          <a:solidFill>
            <a:srgbClr val="1A1A2E"/>
          </a:solidFill>
          <a:ln w="22860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02615" y="1666243"/>
            <a:ext cx="3386613" cy="3995579"/>
          </a:xfrm>
          <a:prstGeom prst="rect">
            <a:avLst/>
          </a:prstGeom>
          <a:solidFill>
            <a:srgbClr val="1A1A2E"/>
          </a:solidFill>
          <a:ln w="22860">
            <a:solidFill>
              <a:srgbClr val="FF6B35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92428" y="1666243"/>
            <a:ext cx="3386773" cy="3995579"/>
          </a:xfrm>
          <a:prstGeom prst="rect">
            <a:avLst/>
          </a:prstGeom>
          <a:solidFill>
            <a:srgbClr val="1A1A2E"/>
          </a:solidFill>
          <a:ln w="22860">
            <a:solidFill>
              <a:srgbClr val="1FBAD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812800"/>
            <a:ext cx="10777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Roadmap: 3-Phase Approach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17600" y="2001521"/>
            <a:ext cx="2832555" cy="25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3"/>
              </a:lnSpc>
            </a:pPr>
            <a:r>
              <a:rPr lang="en-US" sz="1424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24" dirty="0"/>
          </a:p>
        </p:txBody>
      </p:sp>
      <p:sp>
        <p:nvSpPr>
          <p:cNvPr id="7" name="Text 5"/>
          <p:cNvSpPr/>
          <p:nvPr/>
        </p:nvSpPr>
        <p:spPr>
          <a:xfrm>
            <a:off x="1117600" y="2356167"/>
            <a:ext cx="2832555" cy="27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8"/>
              </a:lnSpc>
            </a:pPr>
            <a:r>
              <a:rPr lang="en-US" sz="152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(Weeks 1-4)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1422400" y="2727964"/>
            <a:ext cx="2472213" cy="170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automation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dashboard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protocol draft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reporting setup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1117600" y="4631692"/>
            <a:ext cx="2777013" cy="48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Contact rate 1.267→1.256, CSAT +4 points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1117600" y="5115241"/>
            <a:ext cx="2832555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 ₹1.4 Cr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4707415" y="2001521"/>
            <a:ext cx="2832555" cy="25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3"/>
              </a:lnSpc>
            </a:pPr>
            <a:r>
              <a:rPr lang="en-US" sz="1424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24" dirty="0"/>
          </a:p>
        </p:txBody>
      </p:sp>
      <p:sp>
        <p:nvSpPr>
          <p:cNvPr id="12" name="Text 10"/>
          <p:cNvSpPr/>
          <p:nvPr/>
        </p:nvSpPr>
        <p:spPr>
          <a:xfrm>
            <a:off x="4707415" y="2356167"/>
            <a:ext cx="2832555" cy="27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8"/>
              </a:lnSpc>
            </a:pPr>
            <a:r>
              <a:rPr lang="en-US" sz="152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 (Weeks 5-10)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5012215" y="2727964"/>
            <a:ext cx="2472213" cy="170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FCR rollout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training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AHT optimization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item escalation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4707415" y="4631692"/>
            <a:ext cx="2777013" cy="48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Contact rate 1.256→1.218, reopen -15%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4707415" y="5115241"/>
            <a:ext cx="2832555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 ₹3.5 Cr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8297229" y="2001521"/>
            <a:ext cx="2832716" cy="25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3"/>
              </a:lnSpc>
            </a:pPr>
            <a:r>
              <a:rPr lang="en-US" sz="1424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24" dirty="0"/>
          </a:p>
        </p:txBody>
      </p:sp>
      <p:sp>
        <p:nvSpPr>
          <p:cNvPr id="17" name="Text 15"/>
          <p:cNvSpPr/>
          <p:nvPr/>
        </p:nvSpPr>
        <p:spPr>
          <a:xfrm>
            <a:off x="8297229" y="2356167"/>
            <a:ext cx="2832716" cy="27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8"/>
              </a:lnSpc>
            </a:pPr>
            <a:r>
              <a:rPr lang="en-US" sz="152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(Weeks 11+)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602029" y="2727964"/>
            <a:ext cx="2472372" cy="170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escalation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campaign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</a:t>
            </a:r>
            <a:endParaRPr lang="en-US" sz="1360" dirty="0"/>
          </a:p>
          <a:p>
            <a:pPr marL="457189" indent="-457189">
              <a:lnSpc>
                <a:spcPts val="2448"/>
              </a:lnSpc>
              <a:buSzPct val="100000"/>
              <a:buChar char="•"/>
            </a:pPr>
            <a:r>
              <a:rPr lang="en-US" sz="136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optimization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8297229" y="4631692"/>
            <a:ext cx="2777172" cy="48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Contact rate 1.218→1.213, reopen -20%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8297229" y="5115241"/>
            <a:ext cx="2832716" cy="24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04"/>
              </a:lnSpc>
            </a:pPr>
            <a:r>
              <a:rPr lang="en-US" sz="136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 ₹7.1 Cr</a:t>
            </a:r>
            <a:endParaRPr lang="en-US" sz="13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313" y="1123218"/>
            <a:ext cx="11623040" cy="1613537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4313" y="2984940"/>
            <a:ext cx="11623041" cy="1270307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4314" y="4538821"/>
            <a:ext cx="11583207" cy="2204776"/>
          </a:xfrm>
          <a:prstGeom prst="rect">
            <a:avLst/>
          </a:prstGeom>
          <a:solidFill>
            <a:srgbClr val="1A1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50240" y="311145"/>
            <a:ext cx="55451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3733" y="1446073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1600" b="1" dirty="0">
                <a:solidFill>
                  <a:srgbClr val="1FB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3733" y="1904310"/>
            <a:ext cx="11453787" cy="85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rate reduction from 1.267 → 1.213 through quality improvements directly drives higher trip completion rates and Gross Bookings. </a:t>
            </a: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₹7.1 Cr operational savings + improved platform retention.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3733" y="3035373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567" y="3456867"/>
            <a:ext cx="11453787" cy="798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reopen rates (26.7%) and low CSAT on safety issues (72.5) create brand liability. </a:t>
            </a:r>
            <a:r>
              <a:rPr lang="en-US" sz="1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inaction = ₹35+ Cr wasted on poor-quality reopens annually</a:t>
            </a: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regulatory risk on safety concerns.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3733" y="4503432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733" y="4918127"/>
            <a:ext cx="11453787" cy="182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Phase 1 Quick Wins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weeks execution)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alignment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safety protocol initiatives (P0 priorities)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root cause analysis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rash driving reopen rate (40.2%)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safety framework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top-performing agents</a:t>
            </a:r>
            <a:endParaRPr lang="en-US" sz="1520" dirty="0"/>
          </a:p>
          <a:p>
            <a:pPr marL="457189" indent="-457189">
              <a:lnSpc>
                <a:spcPts val="2736"/>
              </a:lnSpc>
              <a:buSzPct val="100000"/>
              <a:buChar char="•"/>
            </a:pPr>
            <a:r>
              <a:rPr lang="en-US" sz="152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monitoring</a:t>
            </a:r>
            <a:r>
              <a:rPr lang="en-US" sz="152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contact rate trend towards 1.213 target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85ac209-13ab-4601-a65f-e07a1b161438}" enabled="1" method="Standard" siteId="{cd6282b3-8a1b-40f0-9992-593dec57dd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1062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Kumar Sampatirao</dc:creator>
  <cp:lastModifiedBy>Lokesh Kumar Sampatirao</cp:lastModifiedBy>
  <cp:revision>2</cp:revision>
  <dcterms:created xsi:type="dcterms:W3CDTF">2025-12-14T07:50:05Z</dcterms:created>
  <dcterms:modified xsi:type="dcterms:W3CDTF">2025-12-14T08:00:13Z</dcterms:modified>
</cp:coreProperties>
</file>